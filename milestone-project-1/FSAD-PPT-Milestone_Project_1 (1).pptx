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22" autoAdjust="0"/>
  </p:normalViewPr>
  <p:slideViewPr>
    <p:cSldViewPr>
      <p:cViewPr varScale="1">
        <p:scale>
          <a:sx n="51" d="100"/>
          <a:sy n="51" d="100"/>
        </p:scale>
        <p:origin x="869"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24-03-2026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Responsive E-Commerce Interface With State –Persistent Cart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AVVARU AISHWARYA– VTU26635 – 23UECS0669</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Dr.Hafizur</a:t>
            </a:r>
            <a:r>
              <a:rPr lang="en-US" sz="3000" dirty="0">
                <a:latin typeface="Cambria" panose="02040503050406030204" pitchFamily="18" charset="0"/>
                <a:ea typeface="Cambria" panose="02040503050406030204" pitchFamily="18" charset="0"/>
              </a:rPr>
              <a:t> Rahman-Assistant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9-Industry,Innovation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33601" y="1975464"/>
            <a:ext cx="13792200" cy="11060749"/>
          </a:xfrm>
          <a:prstGeom prst="rect">
            <a:avLst/>
          </a:prstGeom>
          <a:noFill/>
        </p:spPr>
        <p:txBody>
          <a:bodyPr wrap="square" rtlCol="0">
            <a:spAutoFit/>
          </a:bodyPr>
          <a:lstStyle/>
          <a:p>
            <a:pPr algn="just"/>
            <a:r>
              <a:rPr lang="en-US" sz="2800" dirty="0"/>
              <a:t>This project focuses on developing a responsive e-commerce web application that allows users to browse and purchase products online. Many traditional systems lack responsiveness and fail to retain user cart data after page refresh. This project solves that problem by implementing a state-persistent cart system. The application adapts to different screen sizes such as mobile, tablet, and desktop. It provides a smooth shopping experience with user-friendly navigation. The system uses modern web technologies to ensure efficiency and usability. This project is relevant in real-world online shopping platforms. It demonstrates frontend and backend integration. One of the major issues faced by users is the loss of cart data during page refresh or session expiry. This project presents a modern solution by developing a responsive e-commerce interface integrated with a state-persistent cart system. The application ensures that users can continue their shopping experience without interruption.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2015465"/>
            <a:ext cx="12877799" cy="9571851"/>
          </a:xfrm>
          <a:prstGeom prst="rect">
            <a:avLst/>
          </a:prstGeom>
          <a:noFill/>
        </p:spPr>
        <p:txBody>
          <a:bodyPr wrap="square" rtlCol="0">
            <a:spAutoFit/>
          </a:bodyPr>
          <a:lstStyle/>
          <a:p>
            <a:pPr algn="just"/>
            <a:r>
              <a:rPr lang="en-US" sz="2800" dirty="0"/>
              <a:t>In many existing e-commerce systems, cart data is lost when the page is refreshed or the browser is closed. This creates inconvenience for users and reduces user experience. Additionally, some systems are not responsive and do not work properly on different devices. Manual handling of cart data leads to inefficiency and errors. There is a need for a responsive and automated system that can maintain cart state persistently. The system should provide a seamless shopping experience across all devices. The challenge lies in maintaining cart data persistently while ensuring fast performance and secure handling of user information.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85999" y="2015465"/>
            <a:ext cx="13030201" cy="4401205"/>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To design and develop a responsive e-commerce web interface.</a:t>
            </a:r>
          </a:p>
          <a:p>
            <a:pPr marL="457200" indent="-457200" algn="just">
              <a:buFont typeface="Arial" panose="020B0604020202020204" pitchFamily="34" charset="0"/>
              <a:buChar char="•"/>
            </a:pPr>
            <a:r>
              <a:rPr lang="en-US" sz="2800" dirty="0"/>
              <a:t>To implement a state-persistent cart using local storage/database.</a:t>
            </a:r>
          </a:p>
          <a:p>
            <a:pPr marL="457200" indent="-457200" algn="just">
              <a:buFont typeface="Arial" panose="020B0604020202020204" pitchFamily="34" charset="0"/>
              <a:buChar char="•"/>
            </a:pPr>
            <a:r>
              <a:rPr lang="en-US" sz="2800" dirty="0"/>
              <a:t>To enhance user experience through seamless interaction and navigation.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86000" y="2015465"/>
            <a:ext cx="15006125" cy="9571851"/>
          </a:xfrm>
          <a:prstGeom prst="rect">
            <a:avLst/>
          </a:prstGeom>
          <a:noFill/>
        </p:spPr>
        <p:txBody>
          <a:bodyPr wrap="square" rtlCol="0">
            <a:spAutoFit/>
          </a:bodyPr>
          <a:lstStyle/>
          <a:p>
            <a:pPr lvl="1"/>
            <a:endParaRPr lang="en-US" sz="2800" dirty="0"/>
          </a:p>
          <a:p>
            <a:pPr marL="914400" lvl="1" indent="-457200" algn="just">
              <a:buFont typeface="Arial" panose="020B0604020202020204" pitchFamily="34" charset="0"/>
              <a:buChar char="•"/>
            </a:pPr>
            <a:r>
              <a:rPr lang="en-US" sz="2800" dirty="0"/>
              <a:t>User accesses the application through a web browser.</a:t>
            </a:r>
          </a:p>
          <a:p>
            <a:pPr marL="914400" lvl="1" indent="-457200" algn="just">
              <a:buFont typeface="Arial" panose="020B0604020202020204" pitchFamily="34" charset="0"/>
              <a:buChar char="•"/>
            </a:pPr>
            <a:r>
              <a:rPr lang="en-US" sz="2800" dirty="0"/>
              <a:t>Authentication is performed(login/register).</a:t>
            </a:r>
          </a:p>
          <a:p>
            <a:pPr marL="914400" lvl="1" indent="-457200" algn="just">
              <a:buFont typeface="Arial" panose="020B0604020202020204" pitchFamily="34" charset="0"/>
              <a:buChar char="•"/>
            </a:pPr>
            <a:r>
              <a:rPr lang="en-US" sz="2800" dirty="0"/>
              <a:t>Product data is fetched and displayed dynamically.</a:t>
            </a:r>
          </a:p>
          <a:p>
            <a:pPr marL="914400" lvl="1" indent="-457200" algn="just">
              <a:buFont typeface="Arial" panose="020B0604020202020204" pitchFamily="34" charset="0"/>
              <a:buChar char="•"/>
            </a:pPr>
            <a:r>
              <a:rPr lang="en-US" sz="2800" dirty="0"/>
              <a:t>User interacts with products and adds items to the cart.</a:t>
            </a:r>
          </a:p>
          <a:p>
            <a:pPr marL="914400" lvl="1" indent="-457200" algn="just">
              <a:buFont typeface="Arial" panose="020B0604020202020204" pitchFamily="34" charset="0"/>
              <a:buChar char="•"/>
            </a:pPr>
            <a:r>
              <a:rPr lang="en-US" sz="2800" dirty="0"/>
              <a:t>Cart state is preserved using persistent storage.</a:t>
            </a:r>
          </a:p>
          <a:p>
            <a:pPr marL="914400" lvl="1" indent="-457200" algn="just">
              <a:buFont typeface="Arial" panose="020B0604020202020204" pitchFamily="34" charset="0"/>
              <a:buChar char="•"/>
            </a:pPr>
            <a:r>
              <a:rPr lang="en-US" sz="2800" dirty="0"/>
              <a:t>Improved user experience and performance.</a:t>
            </a:r>
          </a:p>
          <a:p>
            <a:pPr marL="914400" lvl="1" indent="-457200" algn="just">
              <a:buFont typeface="Arial" panose="020B0604020202020204" pitchFamily="34" charset="0"/>
              <a:buChar char="•"/>
            </a:pPr>
            <a:r>
              <a:rPr lang="en-IN" sz="2800" dirty="0"/>
              <a:t>Persistent cart using local Storage/database.</a:t>
            </a:r>
          </a:p>
          <a:p>
            <a:pPr marL="914400" lvl="1" indent="-457200" algn="just">
              <a:buFont typeface="Arial" panose="020B0604020202020204" pitchFamily="34" charset="0"/>
              <a:buChar char="•"/>
            </a:pPr>
            <a:r>
              <a:rPr lang="en-US" sz="2800" dirty="0"/>
              <a:t>Responsive web design for all devices.</a:t>
            </a:r>
          </a:p>
          <a:p>
            <a:pPr marL="914400" lvl="1"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701820" y="5205947"/>
            <a:ext cx="15587031" cy="9140964"/>
          </a:xfrm>
          <a:prstGeom prst="rect">
            <a:avLst/>
          </a:prstGeom>
          <a:noFill/>
        </p:spPr>
        <p:txBody>
          <a:bodyPr wrap="square" rtlCol="0">
            <a:spAutoFit/>
          </a:bodyPr>
          <a:lstStyle/>
          <a:p>
            <a:endParaRPr lang="en-US" sz="2800" dirty="0"/>
          </a:p>
          <a:p>
            <a:endParaRPr lang="en-US" sz="2800" dirty="0"/>
          </a:p>
          <a:p>
            <a:pPr marL="1371600" lvl="2" indent="-457200" algn="just">
              <a:buFont typeface="Wingdings" panose="05000000000000000000" pitchFamily="2" charset="2"/>
              <a:buChar char="Ø"/>
            </a:pPr>
            <a:endParaRPr lang="en-US" altLang="en-US" sz="2800" b="1" dirty="0"/>
          </a:p>
          <a:p>
            <a:pPr marL="1371600" lvl="2" indent="-457200" algn="just">
              <a:buFont typeface="Wingdings" panose="05000000000000000000" pitchFamily="2" charset="2"/>
              <a:buChar char="Ø"/>
            </a:pPr>
            <a:r>
              <a:rPr lang="en-US" altLang="en-US" sz="2800" b="1" dirty="0"/>
              <a:t>Input</a:t>
            </a:r>
            <a:r>
              <a:rPr lang="en-US" sz="2800" dirty="0"/>
              <a:t>: User selects products and login details.</a:t>
            </a:r>
          </a:p>
          <a:p>
            <a:pPr marL="1371600" lvl="2" indent="-457200" algn="just">
              <a:buFont typeface="Wingdings" panose="05000000000000000000" pitchFamily="2" charset="2"/>
              <a:buChar char="Ø"/>
            </a:pPr>
            <a:r>
              <a:rPr lang="en-US" altLang="en-US" sz="2800" b="1" dirty="0"/>
              <a:t>Processing</a:t>
            </a:r>
            <a:r>
              <a:rPr lang="en-US" sz="2800" dirty="0"/>
              <a:t>: Data handled </a:t>
            </a:r>
            <a:r>
              <a:rPr lang="en-US" altLang="en-US" sz="2800" dirty="0"/>
              <a:t>using PHP/JavaScript logic.</a:t>
            </a:r>
          </a:p>
          <a:p>
            <a:pPr marL="1371600" lvl="2" indent="-457200" algn="just">
              <a:buFont typeface="Wingdings" panose="05000000000000000000" pitchFamily="2" charset="2"/>
              <a:buChar char="Ø"/>
            </a:pPr>
            <a:r>
              <a:rPr lang="en-US" altLang="en-US" sz="2800" b="1" dirty="0"/>
              <a:t>Database: </a:t>
            </a:r>
            <a:r>
              <a:rPr lang="en-US" altLang="en-US" sz="2800" dirty="0"/>
              <a:t>Stores user and product details (MySQL).</a:t>
            </a:r>
          </a:p>
          <a:p>
            <a:pPr marL="1371600" lvl="2" indent="-457200" algn="just">
              <a:buFont typeface="Wingdings" panose="05000000000000000000" pitchFamily="2" charset="2"/>
              <a:buChar char="Ø"/>
            </a:pPr>
            <a:r>
              <a:rPr lang="en-US" altLang="en-US" sz="2800" b="1" dirty="0"/>
              <a:t>Output:</a:t>
            </a:r>
            <a:r>
              <a:rPr lang="en-US" altLang="en-US" sz="2800" dirty="0"/>
              <a:t> Displays products, cart items, and total price.</a:t>
            </a:r>
          </a:p>
          <a:p>
            <a:pPr lvl="2" algn="just"/>
            <a:r>
              <a:rPr lang="en-US" altLang="en-US" sz="2800" b="1" dirty="0"/>
              <a:t> </a:t>
            </a:r>
            <a:endParaRPr lang="en-US" altLang="en-US" sz="2800" dirty="0">
              <a:latin typeface="Arial" panose="020B0604020202020204" pitchFamily="34" charset="0"/>
            </a:endParaRPr>
          </a:p>
          <a:p>
            <a:pPr marL="1371600" lvl="2" indent="-457200">
              <a:buFont typeface="Wingdings" panose="05000000000000000000" pitchFamily="2" charset="2"/>
              <a:buChar char="Ø"/>
            </a:pP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A759F3D-1BAD-2222-3FBC-571FE04370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7078" y="1406743"/>
            <a:ext cx="10115738" cy="50567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634EB75-47B8-837A-65E0-AECB3C66DF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3200" y="1834053"/>
            <a:ext cx="12573000" cy="64705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981200" y="2015464"/>
            <a:ext cx="15310925" cy="784830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Frontend:</a:t>
            </a:r>
            <a:r>
              <a:rPr lang="en-IN" sz="2800" dirty="0"/>
              <a:t> HTML, CSS, JavaScript.</a:t>
            </a:r>
            <a:endParaRPr lang="en-US" sz="2800" dirty="0"/>
          </a:p>
          <a:p>
            <a:pPr marL="457200" indent="-457200" algn="just">
              <a:buFont typeface="Arial" panose="020B0604020202020204" pitchFamily="34" charset="0"/>
              <a:buChar char="•"/>
            </a:pPr>
            <a:r>
              <a:rPr lang="en-US" sz="2800" dirty="0"/>
              <a:t>Backend: PHP.</a:t>
            </a:r>
          </a:p>
          <a:p>
            <a:pPr marL="457200" indent="-457200" algn="just">
              <a:buFont typeface="Arial" panose="020B0604020202020204" pitchFamily="34" charset="0"/>
              <a:buChar char="•"/>
            </a:pPr>
            <a:r>
              <a:rPr lang="en-US" sz="2800" dirty="0"/>
              <a:t>Database: MYSQL.</a:t>
            </a:r>
          </a:p>
          <a:p>
            <a:pPr marL="457200" indent="-457200" algn="just">
              <a:buFont typeface="Arial" panose="020B0604020202020204" pitchFamily="34" charset="0"/>
              <a:buChar char="•"/>
            </a:pPr>
            <a:r>
              <a:rPr lang="en-US" sz="2800" dirty="0"/>
              <a:t>Tools: XAMPP, VS Code.</a:t>
            </a:r>
          </a:p>
          <a:p>
            <a:pPr marL="457200" indent="-457200" algn="just">
              <a:buFont typeface="Arial" panose="020B0604020202020204" pitchFamily="34" charset="0"/>
              <a:buChar char="•"/>
            </a:pPr>
            <a:r>
              <a:rPr lang="en-US" sz="2800" dirty="0"/>
              <a:t>Hardware/Software Requirements: Computer with a browser.</a:t>
            </a: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468986" y="2095500"/>
            <a:ext cx="14904614" cy="6555641"/>
          </a:xfrm>
          <a:prstGeom prst="rect">
            <a:avLst/>
          </a:prstGeom>
          <a:noFill/>
        </p:spPr>
        <p:txBody>
          <a:bodyPr wrap="square" rtlCol="0">
            <a:spAutoFit/>
          </a:bodyPr>
          <a:lstStyle/>
          <a:p>
            <a:pPr algn="just"/>
            <a:r>
              <a:rPr lang="en-IN" sz="2800" b="1" dirty="0"/>
              <a:t>Module 1: User Management</a:t>
            </a:r>
          </a:p>
          <a:p>
            <a:pPr algn="just"/>
            <a:r>
              <a:rPr lang="en-IN" sz="2800" dirty="0"/>
              <a:t>Handles user registration, login and logout sessions.</a:t>
            </a:r>
          </a:p>
          <a:p>
            <a:pPr algn="just"/>
            <a:r>
              <a:rPr lang="en-IN" sz="2800" b="1" dirty="0"/>
              <a:t>Module 2: Product Management </a:t>
            </a:r>
          </a:p>
          <a:p>
            <a:pPr algn="just"/>
            <a:r>
              <a:rPr lang="en-US" sz="2800" dirty="0"/>
              <a:t>Displays product list with images and price</a:t>
            </a:r>
            <a:r>
              <a:rPr lang="en-IN" sz="2800" dirty="0"/>
              <a:t>.</a:t>
            </a:r>
          </a:p>
          <a:p>
            <a:pPr algn="just"/>
            <a:r>
              <a:rPr lang="en-IN" sz="2800" b="1" dirty="0"/>
              <a:t>Module 3: Cart Management</a:t>
            </a:r>
          </a:p>
          <a:p>
            <a:pPr algn="just"/>
            <a:r>
              <a:rPr lang="en-US" sz="2800" dirty="0"/>
              <a:t>Allows adding, removing, and updating cart items with persistent storage</a:t>
            </a:r>
            <a:r>
              <a:rPr lang="en-IN" sz="2800" dirty="0"/>
              <a:t>.</a:t>
            </a:r>
          </a:p>
          <a:p>
            <a:pPr algn="just"/>
            <a:r>
              <a:rPr lang="en-IN" sz="2800" b="1" dirty="0"/>
              <a:t>Module 4: Checkout System </a:t>
            </a:r>
          </a:p>
          <a:p>
            <a:pPr algn="just"/>
            <a:r>
              <a:rPr lang="en-US" sz="2800" dirty="0"/>
              <a:t>Collects user details and confirms order placement</a:t>
            </a:r>
            <a:r>
              <a:rPr lang="en-IN" sz="2800" dirty="0"/>
              <a:t>.</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3023878" y="7353300"/>
            <a:ext cx="11985024" cy="6555641"/>
          </a:xfrm>
          <a:prstGeom prst="rect">
            <a:avLst/>
          </a:prstGeom>
          <a:noFill/>
        </p:spPr>
        <p:txBody>
          <a:bodyPr wrap="square" rtlCol="0">
            <a:spAutoFit/>
          </a:bodyPr>
          <a:lstStyle/>
          <a:p>
            <a:pPr algn="just"/>
            <a:r>
              <a:rPr lang="en-US" sz="2800" b="1" dirty="0"/>
              <a:t>Home page</a:t>
            </a:r>
            <a:r>
              <a:rPr lang="en-US" sz="2800" dirty="0"/>
              <a:t>: It displays all available products, including their names and prices, in a structured layout. Users can browse items and add them to the cart using the “Add to Cart” button.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55CB957B-B9AF-4C7A-3AAA-281FADCD80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3878" y="1981292"/>
            <a:ext cx="11987522" cy="506720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438400" y="7553314"/>
            <a:ext cx="12268199" cy="6555641"/>
          </a:xfrm>
          <a:prstGeom prst="rect">
            <a:avLst/>
          </a:prstGeom>
          <a:noFill/>
        </p:spPr>
        <p:txBody>
          <a:bodyPr wrap="square" rtlCol="0">
            <a:spAutoFit/>
          </a:bodyPr>
          <a:lstStyle/>
          <a:p>
            <a:pPr algn="just"/>
            <a:r>
              <a:rPr lang="en-US" sz="2800" b="1" dirty="0"/>
              <a:t>Login page:</a:t>
            </a:r>
            <a:r>
              <a:rPr lang="en-US" sz="2800" dirty="0"/>
              <a:t> The login page allows users to securely access the system by entering their email and password, verifies user credentials and redirects them to the main shopping page upon successful login.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r>
              <a:rPr lang="en-IN" sz="2800" dirty="0"/>
              <a:t>:</a:t>
            </a:r>
          </a:p>
        </p:txBody>
      </p:sp>
      <p:pic>
        <p:nvPicPr>
          <p:cNvPr id="3" name="Picture 2">
            <a:extLst>
              <a:ext uri="{FF2B5EF4-FFF2-40B4-BE49-F238E27FC236}">
                <a16:creationId xmlns:a16="http://schemas.microsoft.com/office/drawing/2014/main" id="{310F40A3-249B-F0EF-627A-CEB1490972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5754" y="2015465"/>
            <a:ext cx="12070846" cy="531777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723926" y="4684118"/>
            <a:ext cx="12135074" cy="440120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algn="just"/>
            <a:r>
              <a:rPr lang="en-IN" sz="2800" b="1" dirty="0"/>
              <a:t>Main Module:</a:t>
            </a:r>
            <a:r>
              <a:rPr lang="en-US" sz="2800" dirty="0"/>
              <a:t> Each product includes details such as name and price, along with an “Add to Cart” option. Users can browse through different products and select items to add to their shopping cart. </a:t>
            </a:r>
            <a:endParaRPr lang="en-IN" sz="2800" b="1" dirty="0"/>
          </a:p>
        </p:txBody>
      </p:sp>
      <p:pic>
        <p:nvPicPr>
          <p:cNvPr id="5" name="Picture 4">
            <a:extLst>
              <a:ext uri="{FF2B5EF4-FFF2-40B4-BE49-F238E27FC236}">
                <a16:creationId xmlns:a16="http://schemas.microsoft.com/office/drawing/2014/main" id="{EA9F9B87-996A-5F62-2515-78AB19474D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3926" y="2015465"/>
            <a:ext cx="12135074" cy="5537849"/>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665734" y="1806922"/>
            <a:ext cx="12498066" cy="8279190"/>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pPr algn="just"/>
            <a:r>
              <a:rPr lang="en-US" sz="2800" b="1" dirty="0"/>
              <a:t>Output page: </a:t>
            </a:r>
            <a:r>
              <a:rPr lang="en-US" sz="2800" dirty="0"/>
              <a:t>This is the final output page of the application where all selected products are displayed in the shopping cart. It shows product details along with the total price calculated automatically based on user selections. Users can also remove items from the cart before finalizing their purchase.</a:t>
            </a:r>
          </a:p>
          <a:p>
            <a:pPr marL="457200" indent="-457200">
              <a:buFontTx/>
              <a:buChar char="-"/>
            </a:pPr>
            <a:endParaRPr lang="en-US" sz="2800" dirty="0"/>
          </a:p>
        </p:txBody>
      </p:sp>
      <p:pic>
        <p:nvPicPr>
          <p:cNvPr id="3" name="Picture 2">
            <a:extLst>
              <a:ext uri="{FF2B5EF4-FFF2-40B4-BE49-F238E27FC236}">
                <a16:creationId xmlns:a16="http://schemas.microsoft.com/office/drawing/2014/main" id="{C95543D7-BF24-2A04-DE64-313841DAEB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8778" y="1695376"/>
            <a:ext cx="12405022" cy="573412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3" name="Rectangle 3">
            <a:extLst>
              <a:ext uri="{FF2B5EF4-FFF2-40B4-BE49-F238E27FC236}">
                <a16:creationId xmlns:a16="http://schemas.microsoft.com/office/drawing/2014/main" id="{81B3054E-14FC-C510-CC3F-17FD14080BF2}"/>
              </a:ext>
            </a:extLst>
          </p:cNvPr>
          <p:cNvSpPr>
            <a:spLocks noChangeArrowheads="1"/>
          </p:cNvSpPr>
          <p:nvPr/>
        </p:nvSpPr>
        <p:spPr bwMode="auto">
          <a:xfrm>
            <a:off x="2667000" y="2237334"/>
            <a:ext cx="99060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rPr>
              <a:t>ADVANTAGES: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   User-friendly interface.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   Works on all devices.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   Cart data is not lost after refresh.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   Fast and efficient system.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   Improve user experience.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rPr>
              <a:t>LIMITATIONS:</a:t>
            </a:r>
            <a:endParaRPr lang="en-US" sz="2800" b="1" dirty="0"/>
          </a:p>
          <a:p>
            <a:pPr marL="457200" indent="-457200">
              <a:buFont typeface="Arial" panose="020B0604020202020204" pitchFamily="34" charset="0"/>
              <a:buChar char="•"/>
            </a:pPr>
            <a:r>
              <a:rPr lang="en-US" sz="2800" dirty="0"/>
              <a:t>No online payment integration. </a:t>
            </a:r>
          </a:p>
          <a:p>
            <a:pPr marL="457200" indent="-457200">
              <a:buFont typeface="Arial" panose="020B0604020202020204" pitchFamily="34" charset="0"/>
              <a:buChar char="•"/>
            </a:pPr>
            <a:r>
              <a:rPr lang="en-US" sz="2800" dirty="0"/>
              <a:t>Limited product database. </a:t>
            </a:r>
          </a:p>
          <a:p>
            <a:pPr marL="457200" indent="-457200">
              <a:buFont typeface="Arial" panose="020B0604020202020204" pitchFamily="34" charset="0"/>
              <a:buChar char="•"/>
            </a:pPr>
            <a:r>
              <a:rPr lang="en-US" sz="2800" dirty="0"/>
              <a:t>Basic security implementation.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TotalTime>
  <Words>936</Words>
  <Application>Microsoft Office PowerPoint</Application>
  <PresentationFormat>Custom</PresentationFormat>
  <Paragraphs>311</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Bookman Old Style</vt:lpstr>
      <vt:lpstr>Gotham Bold Italics</vt:lpstr>
      <vt:lpstr>Arial</vt:lpstr>
      <vt:lpstr>Calibri</vt:lpstr>
      <vt:lpstr>Times New Roman</vt:lpstr>
      <vt:lpstr>Cambria</vt:lpstr>
      <vt:lpstr>Gotham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Aishwarya</dc:creator>
  <cp:lastModifiedBy>Aiahwarya Aishu</cp:lastModifiedBy>
  <cp:revision>12</cp:revision>
  <dcterms:created xsi:type="dcterms:W3CDTF">2006-08-16T00:00:00Z</dcterms:created>
  <dcterms:modified xsi:type="dcterms:W3CDTF">2026-03-24T05:47:23Z</dcterms:modified>
  <dc:identifier>DAHCaYqJ9OU</dc:identifier>
</cp:coreProperties>
</file>